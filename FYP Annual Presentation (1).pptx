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27"/>
  </p:notesMasterIdLst>
  <p:sldIdLst>
    <p:sldId id="257" r:id="rId2"/>
    <p:sldId id="256" r:id="rId3"/>
    <p:sldId id="259" r:id="rId4"/>
    <p:sldId id="258" r:id="rId5"/>
    <p:sldId id="260" r:id="rId6"/>
    <p:sldId id="261" r:id="rId7"/>
    <p:sldId id="262" r:id="rId8"/>
    <p:sldId id="263" r:id="rId9"/>
    <p:sldId id="265" r:id="rId10"/>
    <p:sldId id="264"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EB5F68-46DA-48EB-BAB3-7AFDBD844467}" type="datetimeFigureOut">
              <a:rPr lang="en-US" smtClean="0"/>
              <a:t>12/13/2025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1DA4AA-4B9F-4453-AF65-1BA730AA6E84}" type="slidenum">
              <a:rPr lang="en-US" smtClean="0"/>
              <a:t>‹#›</a:t>
            </a:fld>
            <a:endParaRPr lang="en-US"/>
          </a:p>
        </p:txBody>
      </p:sp>
    </p:spTree>
    <p:extLst>
      <p:ext uri="{BB962C8B-B14F-4D97-AF65-F5344CB8AC3E}">
        <p14:creationId xmlns:p14="http://schemas.microsoft.com/office/powerpoint/2010/main" val="2691039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1DA4AA-4B9F-4453-AF65-1BA730AA6E84}" type="slidenum">
              <a:rPr lang="en-US" smtClean="0"/>
              <a:t>25</a:t>
            </a:fld>
            <a:endParaRPr lang="en-US"/>
          </a:p>
        </p:txBody>
      </p:sp>
    </p:spTree>
    <p:extLst>
      <p:ext uri="{BB962C8B-B14F-4D97-AF65-F5344CB8AC3E}">
        <p14:creationId xmlns:p14="http://schemas.microsoft.com/office/powerpoint/2010/main" val="1258750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4879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89506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20962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12/13/2025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70906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12/13/2025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7987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12/13/2025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7095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12/13/2025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33807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12/13/2025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85154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12/13/2025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34545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7F45AC6-C491-4585-A584-9CE2AF7D5500}" type="datetime1">
              <a:rPr lang="en-US" smtClean="0"/>
              <a:t>12/13/2025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275288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815130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8831755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795574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763790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45AC6-C491-4585-A584-9CE2AF7D5500}"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323425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144755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12/13/2025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09538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7F45AC6-C491-4585-A584-9CE2AF7D5500}" type="datetime1">
              <a:rPr lang="en-US" smtClean="0"/>
              <a:t>12/13/2025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828196997"/>
      </p:ext>
    </p:extLst>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g"/><Relationship Id="rId1" Type="http://schemas.openxmlformats.org/officeDocument/2006/relationships/slideLayout" Target="../slideLayouts/slideLayout6.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6.xml"/><Relationship Id="rId5" Type="http://schemas.openxmlformats.org/officeDocument/2006/relationships/image" Target="../media/image28.jpeg"/><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6.xml"/><Relationship Id="rId5" Type="http://schemas.openxmlformats.org/officeDocument/2006/relationships/image" Target="../media/image32.jpeg"/><Relationship Id="rId4" Type="http://schemas.openxmlformats.org/officeDocument/2006/relationships/image" Target="../media/image31.jpeg"/></Relationships>
</file>

<file path=ppt/slides/_rels/slide2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6.xml"/><Relationship Id="rId5" Type="http://schemas.openxmlformats.org/officeDocument/2006/relationships/image" Target="../media/image36.jpeg"/><Relationship Id="rId4" Type="http://schemas.openxmlformats.org/officeDocument/2006/relationships/image" Target="../media/image35.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E134C76-7FB4-4BB7-9322-DD8A4B179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useBgFill="1">
        <p:nvSpPr>
          <p:cNvPr id="20" name="Snip Single Corner Rectangle 17">
            <a:extLst>
              <a:ext uri="{FF2B5EF4-FFF2-40B4-BE49-F238E27FC236}">
                <a16:creationId xmlns:a16="http://schemas.microsoft.com/office/drawing/2014/main" id="{C0C57804-4F33-4D85-AA3E-DA0F214BB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12188825"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11595C70-F33D-CDFD-C5DA-5DE3965E0599}"/>
              </a:ext>
            </a:extLst>
          </p:cNvPr>
          <p:cNvSpPr txBox="1"/>
          <p:nvPr/>
        </p:nvSpPr>
        <p:spPr>
          <a:xfrm>
            <a:off x="704849" y="952792"/>
            <a:ext cx="9678988" cy="2577663"/>
          </a:xfrm>
          <a:prstGeom prst="rect">
            <a:avLst/>
          </a:prstGeom>
        </p:spPr>
        <p:txBody>
          <a:bodyPr vert="horz" lIns="91440" tIns="45720" rIns="91440" bIns="45720" rtlCol="0" anchor="b">
            <a:normAutofit/>
          </a:bodyPr>
          <a:lstStyle/>
          <a:p>
            <a:pPr rtl="1">
              <a:lnSpc>
                <a:spcPct val="115000"/>
              </a:lnSpc>
              <a:spcAft>
                <a:spcPts val="800"/>
              </a:spcAft>
            </a:pPr>
            <a:r>
              <a:rPr lang="ar-SA" sz="8000" b="1" kern="100" dirty="0">
                <a:solidFill>
                  <a:schemeClr val="bg2">
                    <a:lumMod val="75000"/>
                  </a:schemeClr>
                </a:solidFill>
                <a:latin typeface="Cascadia Mono SemiBold" panose="020B0609020000020004" pitchFamily="49" charset="0"/>
                <a:ea typeface="Yu Gothic UI Semibold" panose="020B0700000000000000" pitchFamily="34" charset="-128"/>
                <a:cs typeface="Times New Roman" panose="02020603050405020304" pitchFamily="18" charset="0"/>
              </a:rPr>
              <a:t>﷽</a:t>
            </a:r>
            <a:endParaRPr lang="en-US" sz="8000" b="1" kern="100" dirty="0">
              <a:solidFill>
                <a:schemeClr val="bg2">
                  <a:lumMod val="75000"/>
                </a:schemeClr>
              </a:solidFill>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67734803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62362DE-7747-4D8B-99FA-8E36F0B15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F6C4CA-205A-7E79-CE80-ECE52884CF58}"/>
              </a:ext>
            </a:extLst>
          </p:cNvPr>
          <p:cNvSpPr>
            <a:spLocks noGrp="1"/>
          </p:cNvSpPr>
          <p:nvPr>
            <p:ph type="ctrTitle"/>
          </p:nvPr>
        </p:nvSpPr>
        <p:spPr>
          <a:xfrm>
            <a:off x="7369231" y="275089"/>
            <a:ext cx="4051244" cy="3028983"/>
          </a:xfrm>
        </p:spPr>
        <p:txBody>
          <a:bodyPr>
            <a:normAutofit/>
          </a:bodyPr>
          <a:lstStyle/>
          <a:p>
            <a:r>
              <a:rPr lang="en-US"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Tru Awake</a:t>
            </a:r>
          </a:p>
        </p:txBody>
      </p:sp>
      <p:sp>
        <p:nvSpPr>
          <p:cNvPr id="3" name="Subtitle 2">
            <a:extLst>
              <a:ext uri="{FF2B5EF4-FFF2-40B4-BE49-F238E27FC236}">
                <a16:creationId xmlns:a16="http://schemas.microsoft.com/office/drawing/2014/main" id="{37068FE4-6E5A-AF3C-271C-459403C2C201}"/>
              </a:ext>
            </a:extLst>
          </p:cNvPr>
          <p:cNvSpPr>
            <a:spLocks noGrp="1"/>
          </p:cNvSpPr>
          <p:nvPr>
            <p:ph type="subTitle" idx="1"/>
          </p:nvPr>
        </p:nvSpPr>
        <p:spPr>
          <a:xfrm>
            <a:off x="7439219" y="3320784"/>
            <a:ext cx="5233180" cy="1564744"/>
          </a:xfrm>
        </p:spPr>
        <p:txBody>
          <a:bodyPr>
            <a:normAutofit/>
          </a:bodyPr>
          <a:lstStyle/>
          <a:p>
            <a:r>
              <a:rPr lang="en-US" b="1" dirty="0">
                <a:latin typeface="Times New Roman" panose="02020603050405020304" pitchFamily="18" charset="0"/>
                <a:cs typeface="Times New Roman" panose="02020603050405020304" pitchFamily="18" charset="0"/>
              </a:rPr>
              <a:t>Driver drowsiness detection</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Using AI to Enhance Road Safety</a:t>
            </a:r>
            <a:endParaRPr lang="en-US" b="1" dirty="0"/>
          </a:p>
        </p:txBody>
      </p:sp>
      <p:pic>
        <p:nvPicPr>
          <p:cNvPr id="6" name="Picture 5" descr="A logo of a car driving company&#10;&#10;AI-generated content may be incorrect.">
            <a:extLst>
              <a:ext uri="{FF2B5EF4-FFF2-40B4-BE49-F238E27FC236}">
                <a16:creationId xmlns:a16="http://schemas.microsoft.com/office/drawing/2014/main" id="{9A423E60-1035-9545-9099-9C8D535C8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93" y="356499"/>
            <a:ext cx="7123827" cy="6126480"/>
          </a:xfrm>
          <a:prstGeom prst="rect">
            <a:avLst/>
          </a:prstGeom>
          <a:ln w="15875">
            <a:solidFill>
              <a:srgbClr val="FFFFFF">
                <a:alpha val="40000"/>
              </a:srgbClr>
            </a:solidFill>
          </a:ln>
          <a:effectLst>
            <a:innerShdw blurRad="57150" dist="38100" dir="14460000">
              <a:prstClr val="black">
                <a:alpha val="70000"/>
              </a:prstClr>
            </a:innerShdw>
          </a:effectLst>
        </p:spPr>
      </p:pic>
      <p:grpSp>
        <p:nvGrpSpPr>
          <p:cNvPr id="13" name="Group 12">
            <a:extLst>
              <a:ext uri="{FF2B5EF4-FFF2-40B4-BE49-F238E27FC236}">
                <a16:creationId xmlns:a16="http://schemas.microsoft.com/office/drawing/2014/main" id="{25123E6E-F713-4254-A6BF-358CC8EC6C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14" name="Straight Connector 13">
              <a:extLst>
                <a:ext uri="{FF2B5EF4-FFF2-40B4-BE49-F238E27FC236}">
                  <a16:creationId xmlns:a16="http://schemas.microsoft.com/office/drawing/2014/main" id="{2F690FE0-5412-4598-8AD6-769BB36E2C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B4850BB6-6709-408E-BEFD-24DC5E3C29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A03B410-983E-40D8-A4EA-2BB747CB003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2B92421-6A58-4A51-AB7D-B97EA85E30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9D092B0B-C6FB-4CDC-ABE8-5C817CAC69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2628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8B6FB-2364-5325-2C85-E6C4917634B0}"/>
              </a:ext>
            </a:extLst>
          </p:cNvPr>
          <p:cNvSpPr>
            <a:spLocks noGrp="1"/>
          </p:cNvSpPr>
          <p:nvPr>
            <p:ph type="title"/>
          </p:nvPr>
        </p:nvSpPr>
        <p:spPr>
          <a:xfrm>
            <a:off x="1286502" y="637440"/>
            <a:ext cx="9607160" cy="2189239"/>
          </a:xfrm>
        </p:spPr>
        <p:txBody>
          <a:bodyPr vert="horz" lIns="91440" tIns="45720" rIns="91440" bIns="45720" rtlCol="0" anchor="b">
            <a:normAutofit fontScale="90000"/>
          </a:bodyPr>
          <a:lstStyle/>
          <a:p>
            <a:pPr algn="ctr"/>
            <a:br>
              <a:rPr lang="en-US" sz="7200" dirty="0">
                <a:solidFill>
                  <a:srgbClr val="FFFFFF"/>
                </a:solidFill>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Supervised By: </a:t>
            </a:r>
            <a:br>
              <a:rPr lang="en-US" sz="4000" b="1" dirty="0">
                <a:solidFill>
                  <a:srgbClr val="FFFFFF"/>
                </a:solidFill>
                <a:latin typeface="Times New Roman" panose="02020603050405020304" pitchFamily="18" charset="0"/>
                <a:cs typeface="Times New Roman" panose="02020603050405020304" pitchFamily="18" charset="0"/>
              </a:rPr>
            </a:br>
            <a:br>
              <a:rPr lang="en-US" sz="4000" dirty="0">
                <a:solidFill>
                  <a:srgbClr val="FFFFFF"/>
                </a:solidFill>
                <a:latin typeface="Times New Roman" panose="02020603050405020304" pitchFamily="18" charset="0"/>
                <a:cs typeface="Times New Roman" panose="02020603050405020304" pitchFamily="18" charset="0"/>
              </a:rPr>
            </a:br>
            <a:r>
              <a:rPr lang="en-US" sz="3100" b="0" dirty="0">
                <a:solidFill>
                  <a:srgbClr val="FFFFFF"/>
                </a:solidFill>
                <a:latin typeface="Times New Roman" panose="02020603050405020304" pitchFamily="18" charset="0"/>
                <a:cs typeface="Times New Roman" panose="02020603050405020304" pitchFamily="18" charset="0"/>
              </a:rPr>
              <a:t>Muhammad Umar</a:t>
            </a:r>
            <a:endParaRPr lang="en-US" sz="7200" b="0" dirty="0">
              <a:solidFill>
                <a:srgbClr val="FFFFFF"/>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3432E16-8044-B7BF-ED0C-BCBFC716F8C7}"/>
              </a:ext>
            </a:extLst>
          </p:cNvPr>
          <p:cNvSpPr>
            <a:spLocks noGrp="1"/>
          </p:cNvSpPr>
          <p:nvPr>
            <p:ph type="body" idx="1"/>
          </p:nvPr>
        </p:nvSpPr>
        <p:spPr>
          <a:xfrm>
            <a:off x="1286503" y="3290341"/>
            <a:ext cx="9607159" cy="2189239"/>
          </a:xfrm>
        </p:spPr>
        <p:txBody>
          <a:bodyPr vert="horz" lIns="91440" tIns="45720" rIns="91440" bIns="45720" rtlCol="0">
            <a:normAutofit/>
          </a:bodyPr>
          <a:lstStyle/>
          <a:p>
            <a:pPr algn="ctr"/>
            <a:r>
              <a:rPr lang="en-US" sz="3600" b="1" dirty="0">
                <a:solidFill>
                  <a:srgbClr val="FFFFFF"/>
                </a:solidFill>
                <a:latin typeface="Times New Roman" panose="02020603050405020304" pitchFamily="18" charset="0"/>
                <a:cs typeface="Times New Roman" panose="02020603050405020304" pitchFamily="18" charset="0"/>
              </a:rPr>
              <a:t>Group Members:</a:t>
            </a:r>
          </a:p>
          <a:p>
            <a:pPr algn="ctr"/>
            <a:r>
              <a:rPr lang="en-US" sz="3000" dirty="0">
                <a:solidFill>
                  <a:srgbClr val="FFFFFF"/>
                </a:solidFill>
                <a:latin typeface="Times New Roman" panose="02020603050405020304" pitchFamily="18" charset="0"/>
                <a:cs typeface="Times New Roman" panose="02020603050405020304" pitchFamily="18" charset="0"/>
              </a:rPr>
              <a:t>Aneesha Khan                (FSD-SP-062)</a:t>
            </a:r>
            <a:br>
              <a:rPr lang="en-US" sz="3000" dirty="0">
                <a:solidFill>
                  <a:srgbClr val="FFFFFF"/>
                </a:solidFill>
                <a:latin typeface="Times New Roman" panose="02020603050405020304" pitchFamily="18" charset="0"/>
                <a:cs typeface="Times New Roman" panose="02020603050405020304" pitchFamily="18" charset="0"/>
              </a:rPr>
            </a:br>
            <a:r>
              <a:rPr lang="en-US" sz="3000" dirty="0">
                <a:solidFill>
                  <a:srgbClr val="FFFFFF"/>
                </a:solidFill>
                <a:latin typeface="Times New Roman" panose="02020603050405020304" pitchFamily="18" charset="0"/>
                <a:cs typeface="Times New Roman" panose="02020603050405020304" pitchFamily="18" charset="0"/>
              </a:rPr>
              <a:t>Rabia Rafia                     (FSD-SP-084)</a:t>
            </a:r>
          </a:p>
          <a:p>
            <a:pPr algn="ctr"/>
            <a:endParaRPr lang="en-US" sz="28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137668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09B08A-C1EC-478C-86AF-60ADE06D9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3A31D6-A4A5-B1FC-7950-60238B16A9D0}"/>
              </a:ext>
            </a:extLst>
          </p:cNvPr>
          <p:cNvSpPr>
            <a:spLocks noGrp="1"/>
          </p:cNvSpPr>
          <p:nvPr>
            <p:ph type="title"/>
          </p:nvPr>
        </p:nvSpPr>
        <p:spPr>
          <a:xfrm>
            <a:off x="640290" y="685800"/>
            <a:ext cx="4818656" cy="4603749"/>
          </a:xfrm>
        </p:spPr>
        <p:txBody>
          <a:bodyPr>
            <a:normAutofit/>
          </a:bodyPr>
          <a:lstStyle/>
          <a:p>
            <a:pPr algn="r"/>
            <a:r>
              <a:rPr lang="en-US" sz="5200" b="1" dirty="0">
                <a:latin typeface="Times New Roman" panose="02020603050405020304" pitchFamily="18" charset="0"/>
                <a:cs typeface="Times New Roman" panose="02020603050405020304" pitchFamily="18" charset="0"/>
              </a:rPr>
              <a:t>Agenda</a:t>
            </a:r>
          </a:p>
        </p:txBody>
      </p:sp>
      <p:sp>
        <p:nvSpPr>
          <p:cNvPr id="10" name="Rectangle 9">
            <a:extLst>
              <a:ext uri="{FF2B5EF4-FFF2-40B4-BE49-F238E27FC236}">
                <a16:creationId xmlns:a16="http://schemas.microsoft.com/office/drawing/2014/main" id="{221CC330-4259-4C32-BF8B-5FE13FFAB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6096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55637F-F79C-5316-E6B9-E86FEB46897B}"/>
              </a:ext>
            </a:extLst>
          </p:cNvPr>
          <p:cNvSpPr>
            <a:spLocks noGrp="1"/>
          </p:cNvSpPr>
          <p:nvPr>
            <p:ph idx="1"/>
          </p:nvPr>
        </p:nvSpPr>
        <p:spPr>
          <a:xfrm>
            <a:off x="6672751" y="1127125"/>
            <a:ext cx="4878959" cy="4603750"/>
          </a:xfrm>
        </p:spPr>
        <p:txBody>
          <a:bodyPr>
            <a:normAutofit/>
          </a:bodyPr>
          <a:lstStyle/>
          <a:p>
            <a:r>
              <a:rPr lang="en-US" sz="2400" dirty="0">
                <a:solidFill>
                  <a:schemeClr val="tx1"/>
                </a:solidFill>
                <a:latin typeface="Times New Roman" panose="02020603050405020304" pitchFamily="18" charset="0"/>
                <a:cs typeface="Times New Roman" panose="02020603050405020304" pitchFamily="18" charset="0"/>
              </a:rPr>
              <a:t>Introduction</a:t>
            </a:r>
          </a:p>
          <a:p>
            <a:r>
              <a:rPr lang="en-US" sz="2400" dirty="0">
                <a:solidFill>
                  <a:schemeClr val="tx1"/>
                </a:solidFill>
                <a:latin typeface="Times New Roman" panose="02020603050405020304" pitchFamily="18" charset="0"/>
                <a:cs typeface="Times New Roman" panose="02020603050405020304" pitchFamily="18" charset="0"/>
              </a:rPr>
              <a:t>Problem Domain</a:t>
            </a:r>
          </a:p>
          <a:p>
            <a:r>
              <a:rPr lang="en-US" sz="2400" dirty="0">
                <a:solidFill>
                  <a:schemeClr val="tx1"/>
                </a:solidFill>
                <a:latin typeface="Times New Roman" panose="02020603050405020304" pitchFamily="18" charset="0"/>
                <a:cs typeface="Times New Roman" panose="02020603050405020304" pitchFamily="18" charset="0"/>
              </a:rPr>
              <a:t>Proposed Solution(</a:t>
            </a:r>
            <a:r>
              <a:rPr lang="en-US" sz="2400" dirty="0" err="1">
                <a:solidFill>
                  <a:schemeClr val="tx1"/>
                </a:solidFill>
                <a:latin typeface="Times New Roman" panose="02020603050405020304" pitchFamily="18" charset="0"/>
                <a:cs typeface="Times New Roman" panose="02020603050405020304" pitchFamily="18" charset="0"/>
              </a:rPr>
              <a:t>Truwake</a:t>
            </a:r>
            <a:r>
              <a:rPr lang="en-US" sz="2400" dirty="0">
                <a:solidFill>
                  <a:schemeClr val="tx1"/>
                </a:solidFill>
                <a:latin typeface="Times New Roman" panose="02020603050405020304" pitchFamily="18" charset="0"/>
                <a:cs typeface="Times New Roman" panose="02020603050405020304" pitchFamily="18" charset="0"/>
              </a:rPr>
              <a:t>)</a:t>
            </a:r>
          </a:p>
          <a:p>
            <a:r>
              <a:rPr lang="en-US" sz="2400" dirty="0">
                <a:solidFill>
                  <a:schemeClr val="tx1"/>
                </a:solidFill>
                <a:latin typeface="Times New Roman" panose="02020603050405020304" pitchFamily="18" charset="0"/>
                <a:cs typeface="Times New Roman" panose="02020603050405020304" pitchFamily="18" charset="0"/>
              </a:rPr>
              <a:t>System Modules</a:t>
            </a:r>
          </a:p>
          <a:p>
            <a:r>
              <a:rPr lang="en-US" sz="2400" dirty="0">
                <a:solidFill>
                  <a:schemeClr val="tx1"/>
                </a:solidFill>
                <a:latin typeface="Times New Roman" panose="02020603050405020304" pitchFamily="18" charset="0"/>
                <a:cs typeface="Times New Roman" panose="02020603050405020304" pitchFamily="18" charset="0"/>
              </a:rPr>
              <a:t>Use Case Model</a:t>
            </a:r>
          </a:p>
          <a:p>
            <a:r>
              <a:rPr lang="en-US" sz="2400" dirty="0">
                <a:solidFill>
                  <a:schemeClr val="tx1"/>
                </a:solidFill>
                <a:latin typeface="Times New Roman" panose="02020603050405020304" pitchFamily="18" charset="0"/>
                <a:cs typeface="Times New Roman" panose="02020603050405020304" pitchFamily="18" charset="0"/>
              </a:rPr>
              <a:t>Application Architecture</a:t>
            </a:r>
          </a:p>
          <a:p>
            <a:r>
              <a:rPr lang="en-US" sz="2400" dirty="0">
                <a:solidFill>
                  <a:schemeClr val="tx1"/>
                </a:solidFill>
                <a:latin typeface="Times New Roman" panose="02020603050405020304" pitchFamily="18" charset="0"/>
                <a:cs typeface="Times New Roman" panose="02020603050405020304" pitchFamily="18" charset="0"/>
              </a:rPr>
              <a:t>Achievements </a:t>
            </a:r>
          </a:p>
          <a:p>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9639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5AC1D8-C417-F842-2DBC-85E4FE8D126D}"/>
              </a:ext>
            </a:extLst>
          </p:cNvPr>
          <p:cNvSpPr>
            <a:spLocks noGrp="1"/>
          </p:cNvSpPr>
          <p:nvPr>
            <p:ph type="title"/>
          </p:nvPr>
        </p:nvSpPr>
        <p:spPr>
          <a:xfrm>
            <a:off x="457206" y="685799"/>
            <a:ext cx="3974118" cy="4892040"/>
          </a:xfrm>
        </p:spPr>
        <p:txBody>
          <a:bodyPr>
            <a:normAutofit/>
          </a:bodyPr>
          <a:lstStyle/>
          <a:p>
            <a:pPr algn="r"/>
            <a:r>
              <a:rPr lang="en-US" b="1" dirty="0">
                <a:latin typeface="Times New Roman" panose="02020603050405020304" pitchFamily="18" charset="0"/>
                <a:cs typeface="Times New Roman" panose="02020603050405020304" pitchFamily="18" charset="0"/>
              </a:rPr>
              <a:t>introduction</a:t>
            </a:r>
          </a:p>
        </p:txBody>
      </p:sp>
      <p:cxnSp>
        <p:nvCxnSpPr>
          <p:cNvPr id="13" name="Straight Connector 12">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0783"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7284361-B02E-A38B-17A3-007D2C5C74E2}"/>
              </a:ext>
            </a:extLst>
          </p:cNvPr>
          <p:cNvSpPr>
            <a:spLocks noGrp="1"/>
          </p:cNvSpPr>
          <p:nvPr>
            <p:ph idx="1"/>
          </p:nvPr>
        </p:nvSpPr>
        <p:spPr>
          <a:xfrm>
            <a:off x="4650783" y="685799"/>
            <a:ext cx="7084007" cy="5683470"/>
          </a:xfrm>
        </p:spPr>
        <p:txBody>
          <a:bodyPr>
            <a:normAutofit fontScale="85000" lnSpcReduction="10000"/>
          </a:bodyPr>
          <a:lstStyle/>
          <a:p>
            <a:pPr algn="just"/>
            <a:r>
              <a:rPr lang="en-US" sz="2800" dirty="0" err="1">
                <a:solidFill>
                  <a:schemeClr val="tx1"/>
                </a:solidFill>
                <a:effectLst/>
                <a:latin typeface="Times New Roman" panose="02020603050405020304" pitchFamily="18" charset="0"/>
                <a:cs typeface="Times New Roman" panose="02020603050405020304" pitchFamily="18" charset="0"/>
              </a:rPr>
              <a:t>TruAwake</a:t>
            </a:r>
            <a:r>
              <a:rPr lang="en-US" sz="2800" dirty="0">
                <a:solidFill>
                  <a:schemeClr val="tx1"/>
                </a:solidFill>
                <a:effectLst/>
                <a:latin typeface="Times New Roman" panose="02020603050405020304" pitchFamily="18" charset="0"/>
                <a:cs typeface="Times New Roman" panose="02020603050405020304" pitchFamily="18" charset="0"/>
              </a:rPr>
              <a:t> is an AI-powered driver safety application designed to prevent road accidents caused by drowsiness and fatigue.</a:t>
            </a:r>
            <a:br>
              <a:rPr lang="en-US" sz="2800" dirty="0">
                <a:solidFill>
                  <a:schemeClr val="tx1"/>
                </a:solidFill>
                <a:effectLst/>
                <a:latin typeface="Times New Roman" panose="02020603050405020304" pitchFamily="18" charset="0"/>
                <a:cs typeface="Times New Roman" panose="02020603050405020304" pitchFamily="18" charset="0"/>
              </a:rPr>
            </a:br>
            <a:r>
              <a:rPr lang="en-US" sz="2800" dirty="0">
                <a:solidFill>
                  <a:schemeClr val="tx1"/>
                </a:solidFill>
                <a:effectLst/>
                <a:latin typeface="Times New Roman" panose="02020603050405020304" pitchFamily="18" charset="0"/>
                <a:cs typeface="Times New Roman" panose="02020603050405020304" pitchFamily="18" charset="0"/>
              </a:rPr>
              <a:t>It detects signs of driver fatigue by using the smartphone’s front camera and built-in sensors, such as facial movements, eye closure, yawning, and head tilt.</a:t>
            </a:r>
          </a:p>
          <a:p>
            <a:pPr algn="just"/>
            <a:r>
              <a:rPr lang="en-US" sz="2800" dirty="0">
                <a:solidFill>
                  <a:schemeClr val="tx1"/>
                </a:solidFill>
                <a:effectLst/>
                <a:latin typeface="Times New Roman" panose="02020603050405020304" pitchFamily="18" charset="0"/>
                <a:cs typeface="Times New Roman" panose="02020603050405020304" pitchFamily="18" charset="0"/>
              </a:rPr>
              <a:t>The application provides real-time alerts through alarms and notifications to immediately warn the driver and help prevent accidents.</a:t>
            </a:r>
          </a:p>
          <a:p>
            <a:pPr algn="just"/>
            <a:r>
              <a:rPr lang="en-US" sz="2800" dirty="0" err="1">
                <a:solidFill>
                  <a:schemeClr val="tx1"/>
                </a:solidFill>
                <a:effectLst/>
                <a:latin typeface="Times New Roman" panose="02020603050405020304" pitchFamily="18" charset="0"/>
                <a:cs typeface="Times New Roman" panose="02020603050405020304" pitchFamily="18" charset="0"/>
              </a:rPr>
              <a:t>TruAwake</a:t>
            </a:r>
            <a:r>
              <a:rPr lang="en-US" sz="2800" dirty="0">
                <a:solidFill>
                  <a:schemeClr val="tx1"/>
                </a:solidFill>
                <a:effectLst/>
                <a:latin typeface="Times New Roman" panose="02020603050405020304" pitchFamily="18" charset="0"/>
                <a:cs typeface="Times New Roman" panose="02020603050405020304" pitchFamily="18" charset="0"/>
              </a:rPr>
              <a:t> does not require any expensive hardware, wearable devices, or vehicle-installed systems.</a:t>
            </a:r>
          </a:p>
          <a:p>
            <a:pPr algn="just"/>
            <a:r>
              <a:rPr lang="en-US" sz="2800" dirty="0">
                <a:solidFill>
                  <a:schemeClr val="tx1"/>
                </a:solidFill>
                <a:effectLst/>
                <a:latin typeface="Times New Roman" panose="02020603050405020304" pitchFamily="18" charset="0"/>
                <a:cs typeface="Times New Roman" panose="02020603050405020304" pitchFamily="18" charset="0"/>
              </a:rPr>
              <a:t>It runs entirely on a smartphone, making it non-intrusive, affordable, privacy-focused, and easily accessible for all drivers.</a:t>
            </a:r>
          </a:p>
          <a:p>
            <a:pPr marL="0" indent="0" algn="just">
              <a:buNone/>
            </a:pPr>
            <a:endParaRPr lang="en-US" sz="2800" dirty="0">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622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F38C4-82F2-4736-DF65-43D153D35944}"/>
              </a:ext>
            </a:extLst>
          </p:cNvPr>
          <p:cNvSpPr>
            <a:spLocks noGrp="1"/>
          </p:cNvSpPr>
          <p:nvPr>
            <p:ph type="title"/>
          </p:nvPr>
        </p:nvSpPr>
        <p:spPr>
          <a:xfrm>
            <a:off x="952226" y="435594"/>
            <a:ext cx="8534400" cy="1507067"/>
          </a:xfrm>
        </p:spPr>
        <p:txBody>
          <a:bodyPr/>
          <a:lstStyle/>
          <a:p>
            <a:r>
              <a:rPr lang="en-US" b="1" dirty="0">
                <a:latin typeface="Times New Roman" panose="02020603050405020304" pitchFamily="18" charset="0"/>
                <a:cs typeface="Times New Roman" panose="02020603050405020304" pitchFamily="18" charset="0"/>
              </a:rPr>
              <a:t>Problem Domain</a:t>
            </a:r>
          </a:p>
        </p:txBody>
      </p:sp>
      <p:sp>
        <p:nvSpPr>
          <p:cNvPr id="3" name="Content Placeholder 2">
            <a:extLst>
              <a:ext uri="{FF2B5EF4-FFF2-40B4-BE49-F238E27FC236}">
                <a16:creationId xmlns:a16="http://schemas.microsoft.com/office/drawing/2014/main" id="{E87005E9-4D39-AA5D-402B-4738387AD773}"/>
              </a:ext>
            </a:extLst>
          </p:cNvPr>
          <p:cNvSpPr>
            <a:spLocks noGrp="1"/>
          </p:cNvSpPr>
          <p:nvPr>
            <p:ph idx="1"/>
          </p:nvPr>
        </p:nvSpPr>
        <p:spPr>
          <a:xfrm>
            <a:off x="952226" y="1914632"/>
            <a:ext cx="10067872" cy="3615267"/>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Pakistan experiences a high number of motorway and highway accidents, with driver drowsiness and fatigue being a major cause. Although several drowsiness detection systems exist, they depend on expensive hardware, wearable devices such as EEG/EMG sensors, or advanced vehicle-integrated technologies found in cars like Tesla and Volvo, making them impractical for common drivers. Therefore, there is a clear need for an affordable, accessible, and mobile-based solution that can effectively detect driver drowsiness without requiring specialized equipment.</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227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459F4-FA7A-9C1F-9236-B9B63C06EE93}"/>
              </a:ext>
            </a:extLst>
          </p:cNvPr>
          <p:cNvSpPr>
            <a:spLocks noGrp="1"/>
          </p:cNvSpPr>
          <p:nvPr>
            <p:ph type="title"/>
          </p:nvPr>
        </p:nvSpPr>
        <p:spPr>
          <a:xfrm>
            <a:off x="967991" y="620985"/>
            <a:ext cx="8534400" cy="1507067"/>
          </a:xfrm>
        </p:spPr>
        <p:txBody>
          <a:bodyPr/>
          <a:lstStyle/>
          <a:p>
            <a:r>
              <a:rPr lang="en-US" b="1" dirty="0">
                <a:latin typeface="Times New Roman" panose="02020603050405020304" pitchFamily="18" charset="0"/>
                <a:cs typeface="Times New Roman" panose="02020603050405020304" pitchFamily="18" charset="0"/>
              </a:rPr>
              <a:t>Proposed Solution(</a:t>
            </a:r>
            <a:r>
              <a:rPr lang="en-US" b="1" dirty="0" err="1">
                <a:latin typeface="Times New Roman" panose="02020603050405020304" pitchFamily="18" charset="0"/>
                <a:cs typeface="Times New Roman" panose="02020603050405020304" pitchFamily="18" charset="0"/>
              </a:rPr>
              <a:t>TruAwake</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FF60260E-D446-3C65-E89E-4CBCA145BB88}"/>
              </a:ext>
            </a:extLst>
          </p:cNvPr>
          <p:cNvSpPr>
            <a:spLocks noGrp="1"/>
          </p:cNvSpPr>
          <p:nvPr>
            <p:ph idx="1"/>
          </p:nvPr>
        </p:nvSpPr>
        <p:spPr>
          <a:xfrm>
            <a:off x="967991" y="1868214"/>
            <a:ext cx="9358422" cy="3615267"/>
          </a:xfrm>
        </p:spPr>
        <p:txBody>
          <a:bodyPr>
            <a:normAutofit/>
          </a:bodyPr>
          <a:lstStyle/>
          <a:p>
            <a:pPr marL="0" indent="0" algn="just">
              <a:buNone/>
            </a:pPr>
            <a:r>
              <a:rPr lang="en-US" sz="2400" dirty="0" err="1">
                <a:latin typeface="Times New Roman" panose="02020603050405020304" pitchFamily="18" charset="0"/>
                <a:cs typeface="Times New Roman" panose="02020603050405020304" pitchFamily="18" charset="0"/>
              </a:rPr>
              <a:t>TruAwake</a:t>
            </a:r>
            <a:r>
              <a:rPr lang="en-US" sz="2400" dirty="0">
                <a:latin typeface="Times New Roman" panose="02020603050405020304" pitchFamily="18" charset="0"/>
                <a:cs typeface="Times New Roman" panose="02020603050405020304" pitchFamily="18" charset="0"/>
              </a:rPr>
              <a:t> detects driver drowsiness by analyzing eye closure, yawning, head tilt, facial and body movements, along with data collected from mobile sensors such as the accelerometer and gyroscope. When drowsiness is detected, the application immediately triggers real-time alerts, including a loud alarm, vibration alerts, and an emergency contact option to ensure timely intervention and enhance driver safety.</a:t>
            </a: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9470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9A31-25B7-FABE-93F1-1187D040C082}"/>
              </a:ext>
            </a:extLst>
          </p:cNvPr>
          <p:cNvSpPr>
            <a:spLocks noGrp="1"/>
          </p:cNvSpPr>
          <p:nvPr>
            <p:ph type="title"/>
          </p:nvPr>
        </p:nvSpPr>
        <p:spPr>
          <a:xfrm>
            <a:off x="904929" y="685800"/>
            <a:ext cx="8534400" cy="1507067"/>
          </a:xfrm>
        </p:spPr>
        <p:txBody>
          <a:bodyPr/>
          <a:lstStyle/>
          <a:p>
            <a:r>
              <a:rPr lang="en-US" b="1" dirty="0">
                <a:latin typeface="Times New Roman" panose="02020603050405020304" pitchFamily="18" charset="0"/>
                <a:cs typeface="Times New Roman" panose="02020603050405020304" pitchFamily="18" charset="0"/>
              </a:rPr>
              <a:t>System Modules</a:t>
            </a:r>
          </a:p>
        </p:txBody>
      </p:sp>
      <p:sp>
        <p:nvSpPr>
          <p:cNvPr id="3" name="Content Placeholder 2">
            <a:extLst>
              <a:ext uri="{FF2B5EF4-FFF2-40B4-BE49-F238E27FC236}">
                <a16:creationId xmlns:a16="http://schemas.microsoft.com/office/drawing/2014/main" id="{186DFD71-1CFE-FC26-70C6-3D88251C6EA4}"/>
              </a:ext>
            </a:extLst>
          </p:cNvPr>
          <p:cNvSpPr>
            <a:spLocks noGrp="1"/>
          </p:cNvSpPr>
          <p:nvPr>
            <p:ph idx="1"/>
          </p:nvPr>
        </p:nvSpPr>
        <p:spPr>
          <a:xfrm>
            <a:off x="904929" y="1779021"/>
            <a:ext cx="9563374" cy="3615267"/>
          </a:xfrm>
        </p:spPr>
        <p:txBody>
          <a:bodyPr>
            <a:normAutofit/>
          </a:bodyPr>
          <a:lstStyle/>
          <a:p>
            <a:pPr marL="0" indent="0" algn="just">
              <a:buNone/>
            </a:pPr>
            <a:r>
              <a:rPr lang="en-US" sz="2400" dirty="0" err="1">
                <a:latin typeface="Times New Roman" panose="02020603050405020304" pitchFamily="18" charset="0"/>
                <a:cs typeface="Times New Roman" panose="02020603050405020304" pitchFamily="18" charset="0"/>
              </a:rPr>
              <a:t>TruAwake</a:t>
            </a:r>
            <a:r>
              <a:rPr lang="en-US" sz="2400" dirty="0">
                <a:latin typeface="Times New Roman" panose="02020603050405020304" pitchFamily="18" charset="0"/>
                <a:cs typeface="Times New Roman" panose="02020603050405020304" pitchFamily="18" charset="0"/>
              </a:rPr>
              <a:t> consists of software and hardware modules. The software modules include User Authentication, Alarm Module, Analytics and Reports, Theme and UI Customization, Notifications and Reminders, and a Search Feature. The hardware requirements are minimal, requiring only an Android smartphone with at least 2GB RAM, 300MB storage, and a mobile holder for stable usage during driving.</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3015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0D0C8-87EF-F6EF-05BD-EB3C4385726A}"/>
              </a:ext>
            </a:extLst>
          </p:cNvPr>
          <p:cNvSpPr>
            <a:spLocks noGrp="1"/>
          </p:cNvSpPr>
          <p:nvPr>
            <p:ph type="title"/>
          </p:nvPr>
        </p:nvSpPr>
        <p:spPr>
          <a:xfrm>
            <a:off x="913794" y="0"/>
            <a:ext cx="10353761" cy="1326321"/>
          </a:xfrm>
        </p:spPr>
        <p:txBody>
          <a:bodyPr/>
          <a:lstStyle/>
          <a:p>
            <a:r>
              <a:rPr lang="en-US" b="1" dirty="0">
                <a:latin typeface="Times New Roman" panose="02020603050405020304" pitchFamily="18" charset="0"/>
                <a:cs typeface="Times New Roman" panose="02020603050405020304" pitchFamily="18" charset="0"/>
              </a:rPr>
              <a:t>Use Case Model</a:t>
            </a:r>
          </a:p>
        </p:txBody>
      </p:sp>
      <p:pic>
        <p:nvPicPr>
          <p:cNvPr id="4" name="Content Placeholder 4">
            <a:extLst>
              <a:ext uri="{FF2B5EF4-FFF2-40B4-BE49-F238E27FC236}">
                <a16:creationId xmlns:a16="http://schemas.microsoft.com/office/drawing/2014/main" id="{C1920333-0FB2-320A-D9F0-CF0A71518A50}"/>
              </a:ext>
            </a:extLst>
          </p:cNvPr>
          <p:cNvPicPr>
            <a:picLocks noGrp="1" noChangeAspect="1"/>
          </p:cNvPicPr>
          <p:nvPr>
            <p:ph idx="1"/>
          </p:nvPr>
        </p:nvPicPr>
        <p:blipFill>
          <a:blip r:embed="rId2"/>
          <a:stretch>
            <a:fillRect/>
          </a:stretch>
        </p:blipFill>
        <p:spPr>
          <a:xfrm>
            <a:off x="2069146" y="1326321"/>
            <a:ext cx="8043056" cy="5212080"/>
          </a:xfrm>
          <a:prstGeom prst="rect">
            <a:avLst/>
          </a:prstGeom>
        </p:spPr>
      </p:pic>
    </p:spTree>
    <p:extLst>
      <p:ext uri="{BB962C8B-B14F-4D97-AF65-F5344CB8AC3E}">
        <p14:creationId xmlns:p14="http://schemas.microsoft.com/office/powerpoint/2010/main" val="1093509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CC993-465A-2A2C-A6AC-C5BB23CDF48A}"/>
              </a:ext>
            </a:extLst>
          </p:cNvPr>
          <p:cNvSpPr>
            <a:spLocks noGrp="1"/>
          </p:cNvSpPr>
          <p:nvPr>
            <p:ph type="title"/>
          </p:nvPr>
        </p:nvSpPr>
        <p:spPr>
          <a:xfrm>
            <a:off x="889163" y="719373"/>
            <a:ext cx="8534400" cy="1507067"/>
          </a:xfrm>
        </p:spPr>
        <p:txBody>
          <a:bodyPr/>
          <a:lstStyle/>
          <a:p>
            <a:r>
              <a:rPr lang="en-US" b="1" dirty="0">
                <a:latin typeface="Times New Roman" panose="02020603050405020304" pitchFamily="18" charset="0"/>
                <a:cs typeface="Times New Roman" panose="02020603050405020304" pitchFamily="18" charset="0"/>
              </a:rPr>
              <a:t>Application Architecture</a:t>
            </a:r>
          </a:p>
        </p:txBody>
      </p:sp>
      <p:sp>
        <p:nvSpPr>
          <p:cNvPr id="3" name="Content Placeholder 2">
            <a:extLst>
              <a:ext uri="{FF2B5EF4-FFF2-40B4-BE49-F238E27FC236}">
                <a16:creationId xmlns:a16="http://schemas.microsoft.com/office/drawing/2014/main" id="{F7338909-AD87-3136-00FD-04D077D66FE2}"/>
              </a:ext>
            </a:extLst>
          </p:cNvPr>
          <p:cNvSpPr>
            <a:spLocks noGrp="1"/>
          </p:cNvSpPr>
          <p:nvPr>
            <p:ph idx="1"/>
          </p:nvPr>
        </p:nvSpPr>
        <p:spPr>
          <a:xfrm>
            <a:off x="889163" y="2226440"/>
            <a:ext cx="9011582" cy="3615267"/>
          </a:xfrm>
        </p:spPr>
        <p:txBody>
          <a:bodyPr>
            <a:normAutofit/>
          </a:bodyPr>
          <a:lstStyle/>
          <a:p>
            <a:pPr marL="0" indent="0" algn="just">
              <a:buNone/>
            </a:pPr>
            <a:r>
              <a:rPr lang="en-US" sz="2400" dirty="0" err="1">
                <a:latin typeface="Times New Roman" panose="02020603050405020304" pitchFamily="18" charset="0"/>
                <a:cs typeface="Times New Roman" panose="02020603050405020304" pitchFamily="18" charset="0"/>
              </a:rPr>
              <a:t>TruAwake</a:t>
            </a:r>
            <a:r>
              <a:rPr lang="en-US" sz="2400" dirty="0">
                <a:latin typeface="Times New Roman" panose="02020603050405020304" pitchFamily="18" charset="0"/>
                <a:cs typeface="Times New Roman" panose="02020603050405020304" pitchFamily="18" charset="0"/>
              </a:rPr>
              <a:t> follows a mobile-based, on-device architecture that ensures privacy and real-time performance. The system processes a real-time camera feed and combines it with sensor data fusion from mobile sensors. A Google API–based AI model is used for facial and eye landmark detection. The application is built with a React Native frontend and JavaScript backend modules, while data is stored using local storage with optional </a:t>
            </a:r>
            <a:r>
              <a:rPr lang="en-US" sz="2400" dirty="0" err="1">
                <a:latin typeface="Times New Roman" panose="02020603050405020304" pitchFamily="18" charset="0"/>
                <a:cs typeface="Times New Roman" panose="02020603050405020304" pitchFamily="18" charset="0"/>
              </a:rPr>
              <a:t>Supabase</a:t>
            </a:r>
            <a:r>
              <a:rPr lang="en-US" sz="2400" dirty="0">
                <a:latin typeface="Times New Roman" panose="02020603050405020304" pitchFamily="18" charset="0"/>
                <a:cs typeface="Times New Roman" panose="02020603050405020304" pitchFamily="18" charset="0"/>
              </a:rPr>
              <a:t> cloud support for reports and user data.</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142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D78A-CC68-F435-1DFF-E019BC9FE075}"/>
              </a:ext>
            </a:extLst>
          </p:cNvPr>
          <p:cNvSpPr>
            <a:spLocks noGrp="1"/>
          </p:cNvSpPr>
          <p:nvPr>
            <p:ph type="title"/>
          </p:nvPr>
        </p:nvSpPr>
        <p:spPr>
          <a:xfrm>
            <a:off x="684212" y="514422"/>
            <a:ext cx="8534400" cy="1507067"/>
          </a:xfrm>
        </p:spPr>
        <p:txBody>
          <a:bodyPr/>
          <a:lstStyle/>
          <a:p>
            <a:r>
              <a:rPr lang="en-US" b="1" dirty="0">
                <a:latin typeface="Times New Roman" panose="02020603050405020304" pitchFamily="18" charset="0"/>
                <a:cs typeface="Times New Roman" panose="02020603050405020304" pitchFamily="18" charset="0"/>
              </a:rPr>
              <a:t>Achievements </a:t>
            </a:r>
          </a:p>
        </p:txBody>
      </p:sp>
      <p:sp>
        <p:nvSpPr>
          <p:cNvPr id="4" name="Rectangle 1">
            <a:extLst>
              <a:ext uri="{FF2B5EF4-FFF2-40B4-BE49-F238E27FC236}">
                <a16:creationId xmlns:a16="http://schemas.microsoft.com/office/drawing/2014/main" id="{2A3C1506-FE02-7350-0DE1-F0A9A28219C8}"/>
              </a:ext>
            </a:extLst>
          </p:cNvPr>
          <p:cNvSpPr>
            <a:spLocks noGrp="1" noChangeArrowheads="1"/>
          </p:cNvSpPr>
          <p:nvPr>
            <p:ph idx="1"/>
          </p:nvPr>
        </p:nvSpPr>
        <p:spPr bwMode="auto">
          <a:xfrm>
            <a:off x="684212" y="1323152"/>
            <a:ext cx="9509334" cy="501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Complete AI-based driver monitoring system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Real-time image processing for drowsiness detection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Instant alert generation with emergency escalation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Analytics and visual driving reports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Backend camera functionality continues while app is switched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Dark and light theme customization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Optimized frontend and backend architecture for performance and stability</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4099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F66F-3509-A90A-450D-7F9878AE73BC}"/>
              </a:ext>
            </a:extLst>
          </p:cNvPr>
          <p:cNvSpPr>
            <a:spLocks noGrp="1"/>
          </p:cNvSpPr>
          <p:nvPr>
            <p:ph type="title"/>
          </p:nvPr>
        </p:nvSpPr>
        <p:spPr>
          <a:xfrm>
            <a:off x="1828800" y="263369"/>
            <a:ext cx="8534400" cy="1507067"/>
          </a:xfrm>
        </p:spPr>
        <p:txBody>
          <a:bodyPr/>
          <a:lstStyle/>
          <a:p>
            <a:r>
              <a:rPr lang="en-US" b="1" dirty="0">
                <a:effectLst/>
                <a:latin typeface="Times New Roman" panose="02020603050405020304" pitchFamily="18" charset="0"/>
                <a:cs typeface="Times New Roman" panose="02020603050405020304" pitchFamily="18" charset="0"/>
              </a:rPr>
              <a:t>Login/Authentication Screen</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AC598CF-ECD8-75DC-9CE2-18D9798FAE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1578" y="2022631"/>
            <a:ext cx="2056286" cy="4572000"/>
          </a:xfrm>
          <a:prstGeom prst="rect">
            <a:avLst/>
          </a:prstGeom>
        </p:spPr>
      </p:pic>
      <p:pic>
        <p:nvPicPr>
          <p:cNvPr id="4" name="Picture 3">
            <a:extLst>
              <a:ext uri="{FF2B5EF4-FFF2-40B4-BE49-F238E27FC236}">
                <a16:creationId xmlns:a16="http://schemas.microsoft.com/office/drawing/2014/main" id="{9DECEE7B-9829-C60A-01F3-58CC01165C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022631"/>
            <a:ext cx="2057209" cy="4572000"/>
          </a:xfrm>
          <a:prstGeom prst="rect">
            <a:avLst/>
          </a:prstGeom>
        </p:spPr>
      </p:pic>
      <p:pic>
        <p:nvPicPr>
          <p:cNvPr id="5" name="Picture 4">
            <a:extLst>
              <a:ext uri="{FF2B5EF4-FFF2-40B4-BE49-F238E27FC236}">
                <a16:creationId xmlns:a16="http://schemas.microsoft.com/office/drawing/2014/main" id="{8D5683AA-5AAE-9545-7201-97742D0229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08577" y="1987862"/>
            <a:ext cx="2057209" cy="4572000"/>
          </a:xfrm>
          <a:prstGeom prst="rect">
            <a:avLst/>
          </a:prstGeom>
        </p:spPr>
      </p:pic>
      <p:pic>
        <p:nvPicPr>
          <p:cNvPr id="7" name="Picture 6">
            <a:extLst>
              <a:ext uri="{FF2B5EF4-FFF2-40B4-BE49-F238E27FC236}">
                <a16:creationId xmlns:a16="http://schemas.microsoft.com/office/drawing/2014/main" id="{00D1008E-8163-813D-6825-1A492D4C2954}"/>
              </a:ext>
            </a:extLst>
          </p:cNvPr>
          <p:cNvPicPr>
            <a:picLocks noChangeAspect="1"/>
          </p:cNvPicPr>
          <p:nvPr/>
        </p:nvPicPr>
        <p:blipFill>
          <a:blip r:embed="rId5"/>
          <a:stretch>
            <a:fillRect/>
          </a:stretch>
        </p:blipFill>
        <p:spPr>
          <a:xfrm>
            <a:off x="3883232" y="2022631"/>
            <a:ext cx="2057400" cy="4572000"/>
          </a:xfrm>
          <a:prstGeom prst="rect">
            <a:avLst/>
          </a:prstGeom>
        </p:spPr>
      </p:pic>
    </p:spTree>
    <p:extLst>
      <p:ext uri="{BB962C8B-B14F-4D97-AF65-F5344CB8AC3E}">
        <p14:creationId xmlns:p14="http://schemas.microsoft.com/office/powerpoint/2010/main" val="2174974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46BE9-7A87-FD46-CF9A-B651946D1D93}"/>
              </a:ext>
            </a:extLst>
          </p:cNvPr>
          <p:cNvSpPr>
            <a:spLocks noGrp="1"/>
          </p:cNvSpPr>
          <p:nvPr>
            <p:ph type="title"/>
          </p:nvPr>
        </p:nvSpPr>
        <p:spPr>
          <a:xfrm>
            <a:off x="3452648" y="337414"/>
            <a:ext cx="8534400" cy="1507067"/>
          </a:xfrm>
        </p:spPr>
        <p:txBody>
          <a:bodyPr/>
          <a:lstStyle/>
          <a:p>
            <a:r>
              <a:rPr lang="en-US" b="1" dirty="0">
                <a:effectLst/>
                <a:latin typeface="Times New Roman" panose="02020603050405020304" pitchFamily="18" charset="0"/>
                <a:cs typeface="Times New Roman" panose="02020603050405020304" pitchFamily="18" charset="0"/>
              </a:rPr>
              <a:t>User Registration</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62B1AE3-943C-2906-951E-0AAD59E56B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3053" y="1844481"/>
            <a:ext cx="2057209" cy="4572000"/>
          </a:xfrm>
          <a:prstGeom prst="rect">
            <a:avLst/>
          </a:prstGeom>
        </p:spPr>
      </p:pic>
      <p:pic>
        <p:nvPicPr>
          <p:cNvPr id="4" name="Picture 3" descr="A screenshot of a phone&#10;&#10;AI-generated content may be incorrect.">
            <a:extLst>
              <a:ext uri="{FF2B5EF4-FFF2-40B4-BE49-F238E27FC236}">
                <a16:creationId xmlns:a16="http://schemas.microsoft.com/office/drawing/2014/main" id="{37499EF7-24CC-DF8A-04DD-F67E5177A7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5576" y="1844481"/>
            <a:ext cx="2057209" cy="4572000"/>
          </a:xfrm>
          <a:prstGeom prst="rect">
            <a:avLst/>
          </a:prstGeom>
        </p:spPr>
      </p:pic>
    </p:spTree>
    <p:extLst>
      <p:ext uri="{BB962C8B-B14F-4D97-AF65-F5344CB8AC3E}">
        <p14:creationId xmlns:p14="http://schemas.microsoft.com/office/powerpoint/2010/main" val="4163244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96E31-1FFF-A8E3-18B3-82CDD2E046AB}"/>
              </a:ext>
            </a:extLst>
          </p:cNvPr>
          <p:cNvSpPr>
            <a:spLocks noGrp="1"/>
          </p:cNvSpPr>
          <p:nvPr>
            <p:ph type="title"/>
          </p:nvPr>
        </p:nvSpPr>
        <p:spPr>
          <a:xfrm>
            <a:off x="3141059" y="428854"/>
            <a:ext cx="8534400" cy="1507067"/>
          </a:xfrm>
        </p:spPr>
        <p:txBody>
          <a:bodyPr/>
          <a:lstStyle/>
          <a:p>
            <a:r>
              <a:rPr lang="en-US" b="1" dirty="0">
                <a:effectLst/>
                <a:latin typeface="Times New Roman" panose="02020603050405020304" pitchFamily="18" charset="0"/>
                <a:cs typeface="Times New Roman" panose="02020603050405020304" pitchFamily="18" charset="0"/>
              </a:rPr>
              <a:t>Vehicle Registration</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137AC2E-AB68-9B1D-AAAB-55578E64F6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26534" y="1935921"/>
            <a:ext cx="2057209" cy="4572000"/>
          </a:xfrm>
          <a:prstGeom prst="rect">
            <a:avLst/>
          </a:prstGeom>
        </p:spPr>
      </p:pic>
      <p:pic>
        <p:nvPicPr>
          <p:cNvPr id="4" name="Picture 3">
            <a:extLst>
              <a:ext uri="{FF2B5EF4-FFF2-40B4-BE49-F238E27FC236}">
                <a16:creationId xmlns:a16="http://schemas.microsoft.com/office/drawing/2014/main" id="{ABFC5829-AA34-697B-0E70-754A448CFB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0078" y="1935921"/>
            <a:ext cx="2057209" cy="4572000"/>
          </a:xfrm>
          <a:prstGeom prst="rect">
            <a:avLst/>
          </a:prstGeom>
        </p:spPr>
      </p:pic>
      <p:pic>
        <p:nvPicPr>
          <p:cNvPr id="5" name="Picture 4">
            <a:extLst>
              <a:ext uri="{FF2B5EF4-FFF2-40B4-BE49-F238E27FC236}">
                <a16:creationId xmlns:a16="http://schemas.microsoft.com/office/drawing/2014/main" id="{94E9B487-7314-3381-4698-1716BDC3A6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33622" y="1896507"/>
            <a:ext cx="2057209" cy="4572000"/>
          </a:xfrm>
          <a:prstGeom prst="rect">
            <a:avLst/>
          </a:prstGeom>
        </p:spPr>
      </p:pic>
    </p:spTree>
    <p:extLst>
      <p:ext uri="{BB962C8B-B14F-4D97-AF65-F5344CB8AC3E}">
        <p14:creationId xmlns:p14="http://schemas.microsoft.com/office/powerpoint/2010/main" val="286289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64C5-469F-156C-9A9E-A1F41CE29CFB}"/>
              </a:ext>
            </a:extLst>
          </p:cNvPr>
          <p:cNvSpPr>
            <a:spLocks noGrp="1"/>
          </p:cNvSpPr>
          <p:nvPr>
            <p:ph type="title"/>
          </p:nvPr>
        </p:nvSpPr>
        <p:spPr>
          <a:xfrm>
            <a:off x="1251771" y="350079"/>
            <a:ext cx="8534400" cy="1507067"/>
          </a:xfrm>
        </p:spPr>
        <p:txBody>
          <a:bodyPr/>
          <a:lstStyle/>
          <a:p>
            <a:r>
              <a:rPr lang="en-US" b="1" dirty="0">
                <a:effectLst/>
                <a:latin typeface="Times New Roman" panose="02020603050405020304" pitchFamily="18" charset="0"/>
                <a:cs typeface="Times New Roman" panose="02020603050405020304" pitchFamily="18" charset="0"/>
              </a:rPr>
              <a:t>Verify License</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33B94CA-EFB1-6794-F1A2-96A6D3ADB8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67395" y="1699438"/>
            <a:ext cx="2057209" cy="4572000"/>
          </a:xfrm>
          <a:prstGeom prst="rect">
            <a:avLst/>
          </a:prstGeom>
        </p:spPr>
      </p:pic>
    </p:spTree>
    <p:extLst>
      <p:ext uri="{BB962C8B-B14F-4D97-AF65-F5344CB8AC3E}">
        <p14:creationId xmlns:p14="http://schemas.microsoft.com/office/powerpoint/2010/main" val="3053904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BD1AF-C77C-16F5-14AF-C856249C7023}"/>
              </a:ext>
            </a:extLst>
          </p:cNvPr>
          <p:cNvSpPr>
            <a:spLocks noGrp="1"/>
          </p:cNvSpPr>
          <p:nvPr>
            <p:ph type="title"/>
          </p:nvPr>
        </p:nvSpPr>
        <p:spPr>
          <a:xfrm>
            <a:off x="3427412" y="428854"/>
            <a:ext cx="5576035" cy="1507067"/>
          </a:xfrm>
        </p:spPr>
        <p:txBody>
          <a:bodyPr/>
          <a:lstStyle/>
          <a:p>
            <a:r>
              <a:rPr lang="en-US" b="1" dirty="0">
                <a:effectLst/>
                <a:latin typeface="Times New Roman" panose="02020603050405020304" pitchFamily="18" charset="0"/>
                <a:cs typeface="Times New Roman" panose="02020603050405020304" pitchFamily="18" charset="0"/>
              </a:rPr>
              <a:t>User Dashboard</a:t>
            </a:r>
            <a:endParaRPr lang="en-US" b="1" dirty="0">
              <a:latin typeface="Times New Roman" panose="02020603050405020304" pitchFamily="18" charset="0"/>
              <a:cs typeface="Times New Roman" panose="02020603050405020304" pitchFamily="18" charset="0"/>
            </a:endParaRPr>
          </a:p>
        </p:txBody>
      </p:sp>
      <p:pic>
        <p:nvPicPr>
          <p:cNvPr id="3" name="Picture 2" descr="A blue shield with a blue logo&#10;&#10;AI-generated content may be incorrect.">
            <a:extLst>
              <a:ext uri="{FF2B5EF4-FFF2-40B4-BE49-F238E27FC236}">
                <a16:creationId xmlns:a16="http://schemas.microsoft.com/office/drawing/2014/main" id="{AEDC93F4-145D-C555-C9AE-D2D316D0FE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8096" y="1935921"/>
            <a:ext cx="2057209" cy="4572000"/>
          </a:xfrm>
          <a:prstGeom prst="rect">
            <a:avLst/>
          </a:prstGeom>
        </p:spPr>
      </p:pic>
      <p:pic>
        <p:nvPicPr>
          <p:cNvPr id="4" name="Picture 3">
            <a:extLst>
              <a:ext uri="{FF2B5EF4-FFF2-40B4-BE49-F238E27FC236}">
                <a16:creationId xmlns:a16="http://schemas.microsoft.com/office/drawing/2014/main" id="{F2E393B8-C192-B0AF-CD92-7D408E09FF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0956" y="1951687"/>
            <a:ext cx="2057209" cy="4572000"/>
          </a:xfrm>
          <a:prstGeom prst="rect">
            <a:avLst/>
          </a:prstGeom>
        </p:spPr>
      </p:pic>
      <p:pic>
        <p:nvPicPr>
          <p:cNvPr id="5" name="Picture 4">
            <a:extLst>
              <a:ext uri="{FF2B5EF4-FFF2-40B4-BE49-F238E27FC236}">
                <a16:creationId xmlns:a16="http://schemas.microsoft.com/office/drawing/2014/main" id="{04A345E1-C487-1E87-2C69-0DB323C866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3816" y="1935921"/>
            <a:ext cx="2057209" cy="4572000"/>
          </a:xfrm>
          <a:prstGeom prst="rect">
            <a:avLst/>
          </a:prstGeom>
        </p:spPr>
      </p:pic>
    </p:spTree>
    <p:extLst>
      <p:ext uri="{BB962C8B-B14F-4D97-AF65-F5344CB8AC3E}">
        <p14:creationId xmlns:p14="http://schemas.microsoft.com/office/powerpoint/2010/main" val="89705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D15C7-3382-6F20-570F-36807684CD42}"/>
              </a:ext>
            </a:extLst>
          </p:cNvPr>
          <p:cNvSpPr>
            <a:spLocks noGrp="1"/>
          </p:cNvSpPr>
          <p:nvPr>
            <p:ph type="title"/>
          </p:nvPr>
        </p:nvSpPr>
        <p:spPr>
          <a:xfrm>
            <a:off x="1294694" y="428854"/>
            <a:ext cx="8534400" cy="1507067"/>
          </a:xfrm>
        </p:spPr>
        <p:txBody>
          <a:bodyPr>
            <a:normAutofit/>
          </a:bodyPr>
          <a:lstStyle/>
          <a:p>
            <a:r>
              <a:rPr lang="en-US" b="1" dirty="0">
                <a:effectLst/>
                <a:latin typeface="Times New Roman" panose="02020603050405020304" pitchFamily="18" charset="0"/>
                <a:cs typeface="Times New Roman" panose="02020603050405020304" pitchFamily="18" charset="0"/>
              </a:rPr>
              <a:t>Real-Time Monitoring screen</a:t>
            </a:r>
            <a:br>
              <a:rPr lang="en-US" b="1" dirty="0">
                <a:effectLst/>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pic>
        <p:nvPicPr>
          <p:cNvPr id="3" name="Picture 2" descr="A screenshot of a video chat&#10;&#10;AI-generated content may be incorrect.">
            <a:extLst>
              <a:ext uri="{FF2B5EF4-FFF2-40B4-BE49-F238E27FC236}">
                <a16:creationId xmlns:a16="http://schemas.microsoft.com/office/drawing/2014/main" id="{26CAA3D4-74E0-2075-E9E5-DA3CBC8738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4685" y="1935921"/>
            <a:ext cx="2057209" cy="4572000"/>
          </a:xfrm>
          <a:prstGeom prst="rect">
            <a:avLst/>
          </a:prstGeom>
        </p:spPr>
      </p:pic>
      <p:pic>
        <p:nvPicPr>
          <p:cNvPr id="4" name="Picture 3">
            <a:extLst>
              <a:ext uri="{FF2B5EF4-FFF2-40B4-BE49-F238E27FC236}">
                <a16:creationId xmlns:a16="http://schemas.microsoft.com/office/drawing/2014/main" id="{3580E532-3E8C-2C06-BE3D-8B3F1C3897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7515" y="1935921"/>
            <a:ext cx="2057209" cy="4572000"/>
          </a:xfrm>
          <a:prstGeom prst="rect">
            <a:avLst/>
          </a:prstGeom>
        </p:spPr>
      </p:pic>
    </p:spTree>
    <p:extLst>
      <p:ext uri="{BB962C8B-B14F-4D97-AF65-F5344CB8AC3E}">
        <p14:creationId xmlns:p14="http://schemas.microsoft.com/office/powerpoint/2010/main" val="1548890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377D4-95D6-2B2F-0456-6CB9FF54A901}"/>
              </a:ext>
            </a:extLst>
          </p:cNvPr>
          <p:cNvSpPr>
            <a:spLocks noGrp="1"/>
          </p:cNvSpPr>
          <p:nvPr>
            <p:ph type="title"/>
          </p:nvPr>
        </p:nvSpPr>
        <p:spPr>
          <a:xfrm>
            <a:off x="810336" y="389439"/>
            <a:ext cx="8534400" cy="1507067"/>
          </a:xfrm>
        </p:spPr>
        <p:txBody>
          <a:bodyPr/>
          <a:lstStyle/>
          <a:p>
            <a:r>
              <a:rPr lang="en-US" b="1" dirty="0">
                <a:effectLst/>
                <a:latin typeface="Times New Roman" panose="02020603050405020304" pitchFamily="18" charset="0"/>
                <a:cs typeface="Times New Roman" panose="02020603050405020304" pitchFamily="18" charset="0"/>
              </a:rPr>
              <a:t>Location Awareness Module</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6ED1154-602F-AC45-BE5F-6313545628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89374" y="1896506"/>
            <a:ext cx="2057209" cy="4572000"/>
          </a:xfrm>
          <a:prstGeom prst="rect">
            <a:avLst/>
          </a:prstGeom>
        </p:spPr>
      </p:pic>
      <p:pic>
        <p:nvPicPr>
          <p:cNvPr id="4" name="Picture 3">
            <a:extLst>
              <a:ext uri="{FF2B5EF4-FFF2-40B4-BE49-F238E27FC236}">
                <a16:creationId xmlns:a16="http://schemas.microsoft.com/office/drawing/2014/main" id="{D941BB9F-494F-5483-9B47-C3BA089C86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0675" y="1896506"/>
            <a:ext cx="2057209" cy="4572000"/>
          </a:xfrm>
          <a:prstGeom prst="rect">
            <a:avLst/>
          </a:prstGeom>
        </p:spPr>
      </p:pic>
    </p:spTree>
    <p:extLst>
      <p:ext uri="{BB962C8B-B14F-4D97-AF65-F5344CB8AC3E}">
        <p14:creationId xmlns:p14="http://schemas.microsoft.com/office/powerpoint/2010/main" val="2457521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AC1B-4613-A4B1-CBBB-D6376B4D99E1}"/>
              </a:ext>
            </a:extLst>
          </p:cNvPr>
          <p:cNvSpPr>
            <a:spLocks noGrp="1"/>
          </p:cNvSpPr>
          <p:nvPr>
            <p:ph type="title"/>
          </p:nvPr>
        </p:nvSpPr>
        <p:spPr>
          <a:xfrm>
            <a:off x="3630809" y="350079"/>
            <a:ext cx="5308239" cy="1507067"/>
          </a:xfrm>
        </p:spPr>
        <p:txBody>
          <a:bodyPr/>
          <a:lstStyle/>
          <a:p>
            <a:r>
              <a:rPr lang="en-US" b="1" dirty="0">
                <a:effectLst/>
                <a:latin typeface="Times New Roman" panose="02020603050405020304" pitchFamily="18" charset="0"/>
                <a:cs typeface="Times New Roman" panose="02020603050405020304" pitchFamily="18" charset="0"/>
              </a:rPr>
              <a:t>Post-Drive Report</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060E802-AE4F-CF37-4815-AE69BE67E1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0809" y="1935921"/>
            <a:ext cx="2057209" cy="4572000"/>
          </a:xfrm>
          <a:prstGeom prst="rect">
            <a:avLst/>
          </a:prstGeom>
        </p:spPr>
      </p:pic>
      <p:pic>
        <p:nvPicPr>
          <p:cNvPr id="4" name="Picture 3">
            <a:extLst>
              <a:ext uri="{FF2B5EF4-FFF2-40B4-BE49-F238E27FC236}">
                <a16:creationId xmlns:a16="http://schemas.microsoft.com/office/drawing/2014/main" id="{92D677AC-9469-350D-E27B-35DB79475E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7823" y="1935921"/>
            <a:ext cx="2057209" cy="4572000"/>
          </a:xfrm>
          <a:prstGeom prst="rect">
            <a:avLst/>
          </a:prstGeom>
        </p:spPr>
      </p:pic>
    </p:spTree>
    <p:extLst>
      <p:ext uri="{BB962C8B-B14F-4D97-AF65-F5344CB8AC3E}">
        <p14:creationId xmlns:p14="http://schemas.microsoft.com/office/powerpoint/2010/main" val="2611561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86C8C-392F-7C7A-50E7-234EB911BB47}"/>
              </a:ext>
            </a:extLst>
          </p:cNvPr>
          <p:cNvSpPr>
            <a:spLocks noGrp="1"/>
          </p:cNvSpPr>
          <p:nvPr>
            <p:ph type="title"/>
          </p:nvPr>
        </p:nvSpPr>
        <p:spPr>
          <a:xfrm>
            <a:off x="321605" y="2469346"/>
            <a:ext cx="8534400" cy="1507067"/>
          </a:xfrm>
        </p:spPr>
        <p:txBody>
          <a:bodyPr/>
          <a:lstStyle/>
          <a:p>
            <a:r>
              <a:rPr lang="en-US" b="1" dirty="0">
                <a:effectLst/>
                <a:latin typeface="Times New Roman" panose="02020603050405020304" pitchFamily="18" charset="0"/>
                <a:cs typeface="Times New Roman" panose="02020603050405020304" pitchFamily="18" charset="0"/>
              </a:rPr>
              <a:t>Alert </a:t>
            </a:r>
            <a:endParaRPr lang="en-US" b="1" dirty="0">
              <a:latin typeface="Times New Roman" panose="02020603050405020304" pitchFamily="18" charset="0"/>
              <a:cs typeface="Times New Roman" panose="02020603050405020304" pitchFamily="18" charset="0"/>
            </a:endParaRPr>
          </a:p>
        </p:txBody>
      </p:sp>
      <p:pic>
        <p:nvPicPr>
          <p:cNvPr id="3" name="Picture 2" descr="A screenshot of a device&#10;&#10;AI-generated content may be incorrect.">
            <a:extLst>
              <a:ext uri="{FF2B5EF4-FFF2-40B4-BE49-F238E27FC236}">
                <a16:creationId xmlns:a16="http://schemas.microsoft.com/office/drawing/2014/main" id="{DBF1AEB2-FDDF-1D4E-38AD-99345B94A1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0600" y="1431508"/>
            <a:ext cx="2057010" cy="4572000"/>
          </a:xfrm>
          <a:prstGeom prst="rect">
            <a:avLst/>
          </a:prstGeom>
        </p:spPr>
      </p:pic>
      <p:pic>
        <p:nvPicPr>
          <p:cNvPr id="4" name="Picture 3" descr="A screenshot of a device&#10;&#10;AI-generated content may be incorrect.">
            <a:extLst>
              <a:ext uri="{FF2B5EF4-FFF2-40B4-BE49-F238E27FC236}">
                <a16:creationId xmlns:a16="http://schemas.microsoft.com/office/drawing/2014/main" id="{131718D2-9107-091A-CC9F-627AF190AE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0811" y="1431508"/>
            <a:ext cx="2056052" cy="4572000"/>
          </a:xfrm>
          <a:prstGeom prst="rect">
            <a:avLst/>
          </a:prstGeom>
        </p:spPr>
      </p:pic>
    </p:spTree>
    <p:extLst>
      <p:ext uri="{BB962C8B-B14F-4D97-AF65-F5344CB8AC3E}">
        <p14:creationId xmlns:p14="http://schemas.microsoft.com/office/powerpoint/2010/main" val="791109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AF1F9-1722-C557-E783-05B00D49F0BB}"/>
              </a:ext>
            </a:extLst>
          </p:cNvPr>
          <p:cNvSpPr>
            <a:spLocks noGrp="1"/>
          </p:cNvSpPr>
          <p:nvPr>
            <p:ph type="title"/>
          </p:nvPr>
        </p:nvSpPr>
        <p:spPr>
          <a:xfrm>
            <a:off x="684211" y="2500877"/>
            <a:ext cx="8534400" cy="1507067"/>
          </a:xfrm>
        </p:spPr>
        <p:txBody>
          <a:bodyPr/>
          <a:lstStyle/>
          <a:p>
            <a:r>
              <a:rPr lang="en-US" b="1" dirty="0">
                <a:effectLst/>
                <a:latin typeface="Times New Roman" panose="02020603050405020304" pitchFamily="18" charset="0"/>
                <a:cs typeface="Times New Roman" panose="02020603050405020304" pitchFamily="18" charset="0"/>
              </a:rPr>
              <a:t>Statistical Data</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2343C24-F75B-A429-3AB1-46615CBA3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4010" y="1143000"/>
            <a:ext cx="2057209" cy="4572000"/>
          </a:xfrm>
          <a:prstGeom prst="rect">
            <a:avLst/>
          </a:prstGeom>
        </p:spPr>
      </p:pic>
    </p:spTree>
    <p:extLst>
      <p:ext uri="{BB962C8B-B14F-4D97-AF65-F5344CB8AC3E}">
        <p14:creationId xmlns:p14="http://schemas.microsoft.com/office/powerpoint/2010/main" val="620591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1037F-CAA6-38FF-A33B-07B537E69542}"/>
              </a:ext>
            </a:extLst>
          </p:cNvPr>
          <p:cNvSpPr>
            <a:spLocks noGrp="1"/>
          </p:cNvSpPr>
          <p:nvPr>
            <p:ph type="title"/>
          </p:nvPr>
        </p:nvSpPr>
        <p:spPr>
          <a:xfrm>
            <a:off x="1297513" y="169333"/>
            <a:ext cx="8534400" cy="1507067"/>
          </a:xfrm>
        </p:spPr>
        <p:txBody>
          <a:bodyPr/>
          <a:lstStyle/>
          <a:p>
            <a:r>
              <a:rPr lang="en-US" b="1" dirty="0">
                <a:effectLst/>
                <a:latin typeface="Times New Roman" panose="02020603050405020304" pitchFamily="18" charset="0"/>
                <a:cs typeface="Times New Roman" panose="02020603050405020304" pitchFamily="18" charset="0"/>
              </a:rPr>
              <a:t>Activities</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C88A9B0-0F7E-A6BD-0EB8-6C8FD44BA4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513" y="1676400"/>
            <a:ext cx="2057209" cy="4572000"/>
          </a:xfrm>
          <a:prstGeom prst="rect">
            <a:avLst/>
          </a:prstGeom>
        </p:spPr>
      </p:pic>
      <p:pic>
        <p:nvPicPr>
          <p:cNvPr id="4" name="Picture 3">
            <a:extLst>
              <a:ext uri="{FF2B5EF4-FFF2-40B4-BE49-F238E27FC236}">
                <a16:creationId xmlns:a16="http://schemas.microsoft.com/office/drawing/2014/main" id="{F0C1DB31-6B9A-DA97-8F4F-60E8D20FB9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83513" y="1676400"/>
            <a:ext cx="2057209" cy="4572000"/>
          </a:xfrm>
          <a:prstGeom prst="rect">
            <a:avLst/>
          </a:prstGeom>
        </p:spPr>
      </p:pic>
      <p:pic>
        <p:nvPicPr>
          <p:cNvPr id="5" name="Picture 4" descr="A screenshot of a cell phone&#10;&#10;AI-generated content may be incorrect.">
            <a:extLst>
              <a:ext uri="{FF2B5EF4-FFF2-40B4-BE49-F238E27FC236}">
                <a16:creationId xmlns:a16="http://schemas.microsoft.com/office/drawing/2014/main" id="{5EFF7742-ED7D-E9E6-973A-23C5661BB38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9513" y="1676400"/>
            <a:ext cx="2057209" cy="4572000"/>
          </a:xfrm>
          <a:prstGeom prst="rect">
            <a:avLst/>
          </a:prstGeom>
        </p:spPr>
      </p:pic>
      <p:pic>
        <p:nvPicPr>
          <p:cNvPr id="6" name="Picture 5">
            <a:extLst>
              <a:ext uri="{FF2B5EF4-FFF2-40B4-BE49-F238E27FC236}">
                <a16:creationId xmlns:a16="http://schemas.microsoft.com/office/drawing/2014/main" id="{DFF68699-5421-F3B4-F0DC-6CE9AAC19B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98233" y="1676400"/>
            <a:ext cx="2057209" cy="4572000"/>
          </a:xfrm>
          <a:prstGeom prst="rect">
            <a:avLst/>
          </a:prstGeom>
        </p:spPr>
      </p:pic>
    </p:spTree>
    <p:extLst>
      <p:ext uri="{BB962C8B-B14F-4D97-AF65-F5344CB8AC3E}">
        <p14:creationId xmlns:p14="http://schemas.microsoft.com/office/powerpoint/2010/main" val="2740460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06351-F611-9B13-F33C-A5E64B28E939}"/>
              </a:ext>
            </a:extLst>
          </p:cNvPr>
          <p:cNvSpPr>
            <a:spLocks noGrp="1"/>
          </p:cNvSpPr>
          <p:nvPr>
            <p:ph type="title"/>
          </p:nvPr>
        </p:nvSpPr>
        <p:spPr>
          <a:xfrm>
            <a:off x="1823475" y="227896"/>
            <a:ext cx="8534400" cy="1507067"/>
          </a:xfrm>
        </p:spPr>
        <p:txBody>
          <a:bodyPr/>
          <a:lstStyle/>
          <a:p>
            <a:r>
              <a:rPr lang="en-US" b="1" dirty="0">
                <a:effectLst/>
                <a:latin typeface="Times New Roman" panose="02020603050405020304" pitchFamily="18" charset="0"/>
                <a:cs typeface="Times New Roman" panose="02020603050405020304" pitchFamily="18" charset="0"/>
              </a:rPr>
              <a:t>Settings &amp; Customization</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52A5C70-97E4-1CE4-1385-EE63BA5D06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4713" y="1896507"/>
            <a:ext cx="2057209" cy="4572000"/>
          </a:xfrm>
          <a:prstGeom prst="rect">
            <a:avLst/>
          </a:prstGeom>
        </p:spPr>
      </p:pic>
      <p:pic>
        <p:nvPicPr>
          <p:cNvPr id="4" name="Picture 3">
            <a:extLst>
              <a:ext uri="{FF2B5EF4-FFF2-40B4-BE49-F238E27FC236}">
                <a16:creationId xmlns:a16="http://schemas.microsoft.com/office/drawing/2014/main" id="{47AC2E03-01B7-0015-4C9E-23FD0C4F2F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6" y="1916214"/>
            <a:ext cx="2057209" cy="4572000"/>
          </a:xfrm>
          <a:prstGeom prst="rect">
            <a:avLst/>
          </a:prstGeom>
        </p:spPr>
      </p:pic>
      <p:pic>
        <p:nvPicPr>
          <p:cNvPr id="5" name="Picture 4">
            <a:extLst>
              <a:ext uri="{FF2B5EF4-FFF2-40B4-BE49-F238E27FC236}">
                <a16:creationId xmlns:a16="http://schemas.microsoft.com/office/drawing/2014/main" id="{A50B7002-F8C0-5441-0868-5FF45FA457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37266" y="1896507"/>
            <a:ext cx="2056286" cy="4572000"/>
          </a:xfrm>
          <a:prstGeom prst="rect">
            <a:avLst/>
          </a:prstGeom>
        </p:spPr>
      </p:pic>
      <p:pic>
        <p:nvPicPr>
          <p:cNvPr id="6" name="Picture 5">
            <a:extLst>
              <a:ext uri="{FF2B5EF4-FFF2-40B4-BE49-F238E27FC236}">
                <a16:creationId xmlns:a16="http://schemas.microsoft.com/office/drawing/2014/main" id="{B58F91D8-FA00-DD16-D97C-906EC10407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6772" y="1896507"/>
            <a:ext cx="2056286" cy="4572000"/>
          </a:xfrm>
          <a:prstGeom prst="rect">
            <a:avLst/>
          </a:prstGeom>
        </p:spPr>
      </p:pic>
    </p:spTree>
    <p:extLst>
      <p:ext uri="{BB962C8B-B14F-4D97-AF65-F5344CB8AC3E}">
        <p14:creationId xmlns:p14="http://schemas.microsoft.com/office/powerpoint/2010/main" val="2828075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843D9-A8F8-A3A9-42AB-4D92D961BFCC}"/>
              </a:ext>
            </a:extLst>
          </p:cNvPr>
          <p:cNvSpPr>
            <a:spLocks noGrp="1"/>
          </p:cNvSpPr>
          <p:nvPr>
            <p:ph type="title"/>
          </p:nvPr>
        </p:nvSpPr>
        <p:spPr>
          <a:xfrm>
            <a:off x="1621395" y="367453"/>
            <a:ext cx="8534400" cy="1507067"/>
          </a:xfrm>
        </p:spPr>
        <p:txBody>
          <a:bodyPr/>
          <a:lstStyle/>
          <a:p>
            <a:r>
              <a:rPr lang="en-US" b="1" dirty="0">
                <a:effectLst/>
                <a:latin typeface="Times New Roman" panose="02020603050405020304" pitchFamily="18" charset="0"/>
                <a:cs typeface="Times New Roman" panose="02020603050405020304" pitchFamily="18" charset="0"/>
              </a:rPr>
              <a:t>Testing</a:t>
            </a:r>
            <a:endParaRPr lang="en-US"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2EB43CC-558C-B3E2-02CB-0B0061A30A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0675" y="1874520"/>
            <a:ext cx="2057209" cy="4572000"/>
          </a:xfrm>
          <a:prstGeom prst="rect">
            <a:avLst/>
          </a:prstGeom>
        </p:spPr>
      </p:pic>
      <p:pic>
        <p:nvPicPr>
          <p:cNvPr id="7169" name="Picture 71" descr="A person taking a selfie&#10;&#10;AI-generated content may be incorrect.">
            <a:extLst>
              <a:ext uri="{FF2B5EF4-FFF2-40B4-BE49-F238E27FC236}">
                <a16:creationId xmlns:a16="http://schemas.microsoft.com/office/drawing/2014/main" id="{3D60D6BB-93F3-F6D4-0FA0-F19A21C2E1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2146" y="1874520"/>
            <a:ext cx="2057161" cy="4572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screenshot of a phone call&#10;&#10;AI-generated content may be incorrect.">
            <a:extLst>
              <a:ext uri="{FF2B5EF4-FFF2-40B4-BE49-F238E27FC236}">
                <a16:creationId xmlns:a16="http://schemas.microsoft.com/office/drawing/2014/main" id="{81AC8252-CB12-8002-BC39-BDFF8A9989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61676" y="1874520"/>
            <a:ext cx="2057209" cy="4572000"/>
          </a:xfrm>
          <a:prstGeom prst="rect">
            <a:avLst/>
          </a:prstGeom>
        </p:spPr>
      </p:pic>
      <p:pic>
        <p:nvPicPr>
          <p:cNvPr id="6" name="Picture 5">
            <a:extLst>
              <a:ext uri="{FF2B5EF4-FFF2-40B4-BE49-F238E27FC236}">
                <a16:creationId xmlns:a16="http://schemas.microsoft.com/office/drawing/2014/main" id="{B8DC3260-B412-D189-9D93-A03D541D73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31386" y="1905221"/>
            <a:ext cx="2057209" cy="4572000"/>
          </a:xfrm>
          <a:prstGeom prst="rect">
            <a:avLst/>
          </a:prstGeom>
        </p:spPr>
      </p:pic>
    </p:spTree>
    <p:extLst>
      <p:ext uri="{BB962C8B-B14F-4D97-AF65-F5344CB8AC3E}">
        <p14:creationId xmlns:p14="http://schemas.microsoft.com/office/powerpoint/2010/main" val="29908955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2B8EF6-A4B7-CBD7-AC0E-2B5235DC8810}"/>
              </a:ext>
            </a:extLst>
          </p:cNvPr>
          <p:cNvSpPr txBox="1"/>
          <p:nvPr/>
        </p:nvSpPr>
        <p:spPr>
          <a:xfrm>
            <a:off x="3675993" y="2585545"/>
            <a:ext cx="4840014" cy="1200329"/>
          </a:xfrm>
          <a:prstGeom prst="rect">
            <a:avLst/>
          </a:prstGeom>
          <a:noFill/>
        </p:spPr>
        <p:txBody>
          <a:bodyPr wrap="square" rtlCol="0">
            <a:spAutoFit/>
          </a:bodyPr>
          <a:lstStyle/>
          <a:p>
            <a:r>
              <a:rPr lang="en-US" sz="72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6673215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104</TotalTime>
  <Words>551</Words>
  <Application>Microsoft Office PowerPoint</Application>
  <PresentationFormat>Widescreen</PresentationFormat>
  <Paragraphs>52</Paragraphs>
  <Slides>25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Aptos</vt:lpstr>
      <vt:lpstr>Arial</vt:lpstr>
      <vt:lpstr>Cascadia Mono SemiBold</vt:lpstr>
      <vt:lpstr>Century Gothic</vt:lpstr>
      <vt:lpstr>Times New Roman</vt:lpstr>
      <vt:lpstr>Wingdings 3</vt:lpstr>
      <vt:lpstr>Slice</vt:lpstr>
      <vt:lpstr>PowerPoint Presentation</vt:lpstr>
      <vt:lpstr>Tru Awake</vt:lpstr>
      <vt:lpstr> Supervised By:   Muhammad Umar</vt:lpstr>
      <vt:lpstr>Agenda</vt:lpstr>
      <vt:lpstr>introduction</vt:lpstr>
      <vt:lpstr>Problem Domain</vt:lpstr>
      <vt:lpstr>Proposed Solution(TruAwake)</vt:lpstr>
      <vt:lpstr>System Modules</vt:lpstr>
      <vt:lpstr>Use Case Model</vt:lpstr>
      <vt:lpstr>Application Architecture</vt:lpstr>
      <vt:lpstr>Achievements </vt:lpstr>
      <vt:lpstr>Login/Authentication Screen</vt:lpstr>
      <vt:lpstr>User Registration</vt:lpstr>
      <vt:lpstr>Vehicle Registration</vt:lpstr>
      <vt:lpstr>Verify License</vt:lpstr>
      <vt:lpstr>User Dashboard</vt:lpstr>
      <vt:lpstr>Real-Time Monitoring screen </vt:lpstr>
      <vt:lpstr>Location Awareness Module</vt:lpstr>
      <vt:lpstr>Post-Drive Report</vt:lpstr>
      <vt:lpstr>Alert </vt:lpstr>
      <vt:lpstr>Statistical Data</vt:lpstr>
      <vt:lpstr>Activities</vt:lpstr>
      <vt:lpstr>Settings &amp; Customization</vt:lpstr>
      <vt:lpstr>Testing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aneesha khan</dc:creator>
  <cp:lastModifiedBy>aneesha khan</cp:lastModifiedBy>
  <cp:revision>12</cp:revision>
  <dcterms:created xsi:type="dcterms:W3CDTF">2025-12-12T07:27:17Z</dcterms:created>
  <dcterms:modified xsi:type="dcterms:W3CDTF">2025-12-13T06:15:34Z</dcterms:modified>
</cp:coreProperties>
</file>